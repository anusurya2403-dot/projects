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F172A"/>
                </a:solidFill>
                <a:latin typeface="Arial"/>
              </a:rPr>
              <a:t>Monthly Active Redeemers % by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MAR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Explorer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  <c:pt idx="4">
                  <c:v>Ultimate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9</c:v>
                </c:pt>
                <c:pt idx="2">
                  <c:v>18</c:v>
                </c:pt>
                <c:pt idx="3">
                  <c:v>42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3-4758-9848-6916E5C08C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Benchmark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Explorer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  <c:pt idx="4">
                  <c:v>Ultimate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20</c:v>
                </c:pt>
                <c:pt idx="2">
                  <c:v>35</c:v>
                </c:pt>
                <c:pt idx="3">
                  <c:v>58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F3-4758-9848-6916E5C08C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F172A"/>
                </a:solidFill>
                <a:latin typeface="Arial"/>
              </a:rPr>
              <a:t>Engagement Trend — H1 2026 (Declining)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 Open Rate %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18</c:v>
                </c:pt>
                <c:pt idx="5">
                  <c:v>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CD3-4928-971A-ED9C28465F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 Sessions/Month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3</c:v>
                </c:pt>
                <c:pt idx="2">
                  <c:v>2.9</c:v>
                </c:pt>
                <c:pt idx="3">
                  <c:v>2.7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CD3-4928-971A-ED9C28465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3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</a:rPr>
              <a:t>FLYING BLUE SIGNALS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</a:rPr>
              <a:t> Airline Loyalty Programme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1284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 product management case study for Air France-KLM Flying Blue, using SWOT, Porter's Five Forces, PERT, Customer Journey, RACI, and KPI frameworks along with strategic insights.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965960" cy="594360"/>
          </a:xfrm>
          <a:prstGeom prst="rect">
            <a:avLst/>
          </a:prstGeom>
          <a:solidFill>
            <a:srgbClr val="1E3A8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19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INDUSTRY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36210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Travel &amp; Airlines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70048" y="3383280"/>
            <a:ext cx="1965960" cy="594360"/>
          </a:xfrm>
          <a:prstGeom prst="rect">
            <a:avLst/>
          </a:prstGeom>
          <a:solidFill>
            <a:srgbClr val="1E3A8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3419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PROGRAM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048" y="36210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Air France Flying Blue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91456" y="3383280"/>
            <a:ext cx="1965960" cy="594360"/>
          </a:xfrm>
          <a:prstGeom prst="rect">
            <a:avLst/>
          </a:prstGeom>
          <a:solidFill>
            <a:srgbClr val="1E3A8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3419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FEATURE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91456" y="36210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Flying Blue Signals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12864" y="3419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12864" y="36210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</a:rPr>
              <a:t>Case Study   ·  Loyalty Management Domain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 Study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Six frameworks · Six deliverables · One complete PM portfolio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Porter's Five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35331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Industry &amp; competitive landscape of airline loyalty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834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SWOT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35331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Flying Blue programme strengths, weaknesses, opportunities, threats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914400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Journey 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27648" y="135331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End-to-end member experience from awareness to redemption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8892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88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22783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Simulated programme data, benchmarks &amp; performance gaps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7889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788920"/>
            <a:ext cx="28346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788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PERT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322783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Project timeline &amp; critical path for Flying Blue Signals launch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27889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2788920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RACI Matrix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3227832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Stakeholder ownership across all workstreams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Porter's Five Forces of Airline Loyalty Industry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Competitive landscape analysis for Flying Blue &amp; personalization opportunity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7772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77724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777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Threat of New Entrants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85232" y="7772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0" y="11247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Regulatory barriers: airline licensing &amp; slot allocation limit new carriers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0" y="14721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High capital costs to build a loyalty programme at scale (tech, partnerships)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0" y="18196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Fintech challengers (Revolut, N26) offer rival points that are growing but not yet direct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2148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148840"/>
            <a:ext cx="265176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48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Bargaining Power of Suppliers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76272" y="21488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4963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Aircraft manufacturers (Airbus, Boeing) hold significant pricing power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2843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Fuel suppliers use critical hedging strategies to limit short-term exposure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" y="31912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Hotel &amp; car hire partners have moderate leverage on mile earn rates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148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148840"/>
            <a:ext cx="26517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148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Competitive Rivalry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85232" y="21488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24963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Direct: Lufthansa Miles &amp; More, British Airways Avios, Aeroplan , all investing in personalization/customization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2843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Flying Blue ranked #1 globally (Point.me 2025) but margin is narrow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3280" y="31912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Personalization is the new competitive battleground in 2026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00800" y="2148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148840"/>
            <a:ext cx="265176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2148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Bargaining Power of Buyers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94192" y="21488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24963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Members hold multiple loyalty cards due to low switching cost for casual flyers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0" y="2843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High-tier members (Platinum/Ultimate) have higher retention rate due to high switching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92240" y="31912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Market Transparency tools (AwardHacker, Point.me) empower sophisticated members, to maximize loyalty value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0" y="35204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3520440"/>
            <a:ext cx="26517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520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Threat of Substitutes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85232" y="35204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0" y="38679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Cashback credit cards offer simpler alternative to miles programmes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0" y="42153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Subscription travel clubs (e.g. Inspirato) growing in premium segment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83280" y="45628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· Loyalty fatigue: 57% of members enrolled in 3+ programmes (McKinsey 2025)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82880" y="491032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 Insight: Competitive rivalry is HIGH and personalization is the primary differentiator in 2026. Flying Blue Signals directly addresses this gap.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SWOT Analysis of Flying Blue Programme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Internal capabilities vs external market forces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4297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STRENGTHS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064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#1 globally ranked loyalty programme (Point.me 2025)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Widest credit card transfer partner network (Amex, Chase, Citi, Capital One, Bilt)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17282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Award seat available on every Air France/KLM flight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0391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40M members are scaling advantage for model training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23500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Monthly Promo Rewards create engagement habit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777240"/>
            <a:ext cx="42976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WEAKNESSES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1064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C262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Dynamic pricing without an award chart destroys trust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C262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No online award seat holds (competitors offer 24hr free holds)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17282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C262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Award booking platform ranked as 'difficult to use'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0391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C262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Zero AI personalisation in reward communications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3500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C262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€75/ticket change fees is the highest among top 10 programmes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2852928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852928"/>
            <a:ext cx="42976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52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OPPORTUNITIES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1821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563EB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Personalization: 37% higher member spend in personalised programmes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4930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563EB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Zero-party data strategy: members willing to share preferences for better deals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80390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563EB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Churn reduction: 57% of members multi-enrolled , shows customization builds retention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1148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563EB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Expand partner ecosystem with matched hotel, travel itinery &amp; experience offers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442569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2563EB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Agentic booking assistants as a</a:t>
            </a:r>
            <a:r>
              <a:rPr lang="en-US" sz="800" dirty="0"/>
              <a:t> v2 milestone following the Signals release</a:t>
            </a:r>
          </a:p>
        </p:txBody>
      </p:sp>
      <p:sp>
        <p:nvSpPr>
          <p:cNvPr id="31" name="Shape 29"/>
          <p:cNvSpPr/>
          <p:nvPr/>
        </p:nvSpPr>
        <p:spPr>
          <a:xfrm>
            <a:off x="4663440" y="2852928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852928"/>
            <a:ext cx="42976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852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1821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Lufthansa Miles &amp; More &amp; Aeroplan deploying AI personalisation in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34930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GDPR &amp; EU AI Act: compliance risk for automated personalisation at scale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380390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Loyalty fatigue: 60% of airline miles never redeemed (industry average)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41148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Cashback card substitution growing among under-35 demographic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442569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</a:rPr>
              <a:t>▸ </a:t>
            </a:r>
            <a:r>
              <a:rPr lang="en-US" sz="800" dirty="0">
                <a:solidFill>
                  <a:srgbClr val="0F172A"/>
                </a:solidFill>
              </a:rPr>
              <a:t>Dynamic pricing backlash causing member trust declining in Flying Blue forums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44568" y="777240"/>
            <a:ext cx="0" cy="4023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2825496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25968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SWOT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 Journey Map — Flying Blue Member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Persona: Sophie C. · Silver member · Leisure traveller · Amsterdam–Southeast Asia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749808"/>
            <a:ext cx="13716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Awareness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54480" y="905256"/>
            <a:ext cx="9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Sees Flying Blue ad; enrolls via Amex transfer offer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😊 Hopeful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78608"/>
            <a:ext cx="65836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688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Unclear how many miles she'll need for a real trip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45920" y="749808"/>
            <a:ext cx="13716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Onboarding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17520" y="905256"/>
            <a:ext cx="9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1907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Downloads app, links credit card, earns first miles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4592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😐 Confused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78308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3080" y="2578608"/>
            <a:ext cx="43891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0992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No guidance on best routes or redemption value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08960" y="749808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905256"/>
            <a:ext cx="9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8211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Accumulates miles via credit card spending over months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10896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😴 Passive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2578608"/>
            <a:ext cx="43891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7296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Receives irrelevant Promo Rewards emails (Miami deals)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0" y="749808"/>
            <a:ext cx="137160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Discovery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0" y="905256"/>
            <a:ext cx="9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4515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Reads travel blog about Lyon to Bangkok deal; tries to book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7200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😤 Frustrated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2578608"/>
            <a:ext cx="21945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3600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Price changes during 48hr Amex transfer and  misses deal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5040" y="749808"/>
            <a:ext cx="13716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Redemption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06640" y="905256"/>
            <a:ext cx="914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3504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10819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Eventually books after weeks of checking prices manually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03504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😅 Relieved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7220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2578608"/>
            <a:ext cx="65836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3504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3504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09904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Never sure if she got a good value as no explainer shown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498080" y="749808"/>
            <a:ext cx="137160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0" y="749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Advocacy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498080" y="1170432"/>
            <a:ext cx="13716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571232" y="1207008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F172A"/>
                </a:solidFill>
              </a:rPr>
              <a:t>Tells one friend; stays enrolled but passively earns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49808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😶 Neutral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635240" y="2578608"/>
            <a:ext cx="10972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35240" y="2578608"/>
            <a:ext cx="43891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98080" y="2798064"/>
            <a:ext cx="137160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498080" y="2798064"/>
            <a:ext cx="1371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808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Pain Point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562088" y="303580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No post-trip engagement; miles just sit in account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82880" y="4133088"/>
            <a:ext cx="8778240" cy="658368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15137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761"/>
                </a:solidFill>
              </a:rPr>
              <a:t>✦  Flying Blue Signals targets stages 3–5 (Earning → Discovery → Redemption): personalised deal feed replaces irrelevant broadcast, saver seat alerts solve the discovery gap, and the value explainer removes redemption uncertainty.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KPI Dashboard — Flying Blue Programme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Simulated programme data vs industry benchmarks based on Monthly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057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686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11%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Monthly Active Redeemers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1828800"/>
            <a:ext cx="2057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</a:rPr>
              <a:t>▼ 7–11pp gap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" y="20665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Benchmark: 18–22%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95728" y="804672"/>
            <a:ext cx="2057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95728" y="8686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8.3%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395728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Promo Rewards CTR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95728" y="1828800"/>
            <a:ext cx="2057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▼ 5.7pp gap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95728" y="20665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Benchmark: 14% (personalised)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08576" y="804672"/>
            <a:ext cx="2057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08576" y="8686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34%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608576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Miles Expiry Rate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08576" y="1828800"/>
            <a:ext cx="2057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</a:rPr>
              <a:t>▼ High churn risk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08576" y="20665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Benchmark: &lt;20%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821424" y="804672"/>
            <a:ext cx="2057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21424" y="8686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41%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21424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Award Booking Completion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21424" y="1828800"/>
            <a:ext cx="2057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▼ 15–19pp gap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21424" y="20665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Benchmark: 56–60%</a:t>
            </a:r>
            <a:endParaRPr lang="en-US" sz="7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182880" y="2395728"/>
          <a:ext cx="4206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1"/>
          <p:cNvGraphicFramePr/>
          <p:nvPr/>
        </p:nvGraphicFramePr>
        <p:xfrm>
          <a:off x="4572000" y="2395728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KPI Targets — Flying Blue Signals Success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Projected impact at 90 days post-launch · A/B test validated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04 cont.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8778240" cy="80467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C3AED"/>
                </a:solidFill>
              </a:rPr>
              <a:t>NORTH STAR METRIC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Monthly Active Redeemers (MAR) — % of members completing ≥1 award booking/month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822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Target: 11% → 18%  (+7pp)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737360"/>
          <a:ext cx="8412480" cy="2926077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 (90d)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Personalised Feed CTR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8.3%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11.6% (+40%)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Product / Data Science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🟡 In progress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Award Booking Completion Rate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41%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47% (+15%)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Product / Engineering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🟡 In progress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Churn Re-engagement Rate (30d)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+20pp vs control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CRM / Data Science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🔴 Not started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Notification Opt-out Rate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&lt; 10%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🔴 Not started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App Crash Rate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1.2%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≤ 1.7% (guardrail)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Engineering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🟢 Monitoring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Email Unsubscribe Rate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0.8%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≤ 0.8% (guardrail)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CRM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🟢 Monitoring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4748B"/>
                </a:solidFill>
              </a:rPr>
              <a:t>Guardrail metrics (green) must not regress. If either guardrail is breached, freeze the rollout immediately and initiate a root-cause analysis.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PERT Chart — Flying Blue Signals Project Timeline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Programme Evaluation &amp; Review Technique · Critical path highlighted in red · 24-week delivery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2377440"/>
            <a:ext cx="822960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23774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Start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234440" y="1280160"/>
            <a:ext cx="1005840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12801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Discovery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&amp; PRD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34440" y="3474720"/>
            <a:ext cx="1005840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3474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User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Research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23160" y="804672"/>
            <a:ext cx="1005840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8046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Data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423160" y="2331720"/>
            <a:ext cx="1005840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2331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ML Model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Design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23160" y="3977640"/>
            <a:ext cx="1005840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23160" y="39776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UX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Wireframes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0" y="1371600"/>
            <a:ext cx="1005840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1371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Backend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0" y="2788920"/>
            <a:ext cx="1005840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27889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Model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Training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0" y="4206240"/>
            <a:ext cx="1005840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0" y="42062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Frontend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Build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92040" y="2148840"/>
            <a:ext cx="1005840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148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Integration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&amp; QA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92040" y="3703320"/>
            <a:ext cx="1005840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A/B Test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Setup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2560320"/>
            <a:ext cx="1005840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560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MVP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Launch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60920" y="1828800"/>
            <a:ext cx="100584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Monitor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&amp; Iterate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60920" y="3291840"/>
            <a:ext cx="100584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6092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Full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Rollout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412480" y="2560320"/>
            <a:ext cx="822960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12480" y="25603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51560" y="2660904"/>
            <a:ext cx="18288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40280" y="1563624"/>
            <a:ext cx="182880" cy="10515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2615184"/>
            <a:ext cx="228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1655064"/>
            <a:ext cx="228600" cy="77724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432304"/>
            <a:ext cx="228600" cy="41148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0" y="2843784"/>
            <a:ext cx="228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2112264"/>
            <a:ext cx="45720" cy="54864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1560" y="2660904"/>
            <a:ext cx="182880" cy="109728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40280" y="1563624"/>
            <a:ext cx="1828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0280" y="3758184"/>
            <a:ext cx="182880" cy="5029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1088136"/>
            <a:ext cx="228600" cy="566928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29000" y="4261104"/>
            <a:ext cx="228600" cy="22860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4489704"/>
            <a:ext cx="2286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97880" y="3986784"/>
            <a:ext cx="2286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32320" y="2843784"/>
            <a:ext cx="228600" cy="7315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66760" y="3575304"/>
            <a:ext cx="4572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192024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19202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2w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011680" y="192024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19202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3w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017520" y="164592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164592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4w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480560" y="173736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17373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3w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577840" y="246888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246888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2w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766560" y="2194560"/>
            <a:ext cx="310896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6w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86765" y="4844886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4700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Critical Path (20 weeks)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697480" y="4818948"/>
            <a:ext cx="4572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0" y="4700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Non-critical path (parallel workstreams)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RACI Matrix — Flying Blue Signals Stakeholder Ownership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R = Responsible · A = Accountable · C = Consulted · I = Informed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0664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25603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Workstream / Task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529584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Eng Lead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315968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Science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102352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UX Design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888736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Marketing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75120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Legal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461504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Finance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247888" y="822960"/>
            <a:ext cx="78638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82296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Loyalty Ops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1133856"/>
            <a:ext cx="2560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11338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Problem definition &amp; PRD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0" y="1133856"/>
            <a:ext cx="786384" cy="329184"/>
          </a:xfrm>
          <a:prstGeom prst="rect">
            <a:avLst/>
          </a:prstGeom>
          <a:solidFill>
            <a:srgbClr val="7C3AE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A/R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29584" y="113385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15968" y="113385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02352" y="113385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88736" y="113385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88736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75120" y="113385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61504" y="113385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61504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47888" y="113385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1133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" y="1481328"/>
            <a:ext cx="256032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14813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ML model architecture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0" y="1481328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529584" y="1481328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9584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15968" y="1481328"/>
            <a:ext cx="786384" cy="329184"/>
          </a:xfrm>
          <a:prstGeom prst="rect">
            <a:avLst/>
          </a:prstGeom>
          <a:solidFill>
            <a:srgbClr val="7C3AE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15968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A/R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02352" y="148132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88736" y="148132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88736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675120" y="148132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61504" y="148132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61504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247888" y="148132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47888" y="14813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82880" y="1828800"/>
            <a:ext cx="2560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" y="182880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UX wireframes &amp; design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0" y="1828800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0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529584" y="182880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29584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315968" y="182880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15968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102352" y="1828800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2352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888736" y="1828800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675120" y="182880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0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461504" y="182880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61504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247888" y="182880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47888" y="18288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2880" y="2176272"/>
            <a:ext cx="256032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" y="217627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Backend API development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743200" y="2176272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0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529584" y="2176272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29584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315968" y="2176272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15968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102352" y="217627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02352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888736" y="217627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88736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675120" y="217627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75120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461504" y="217627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61504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247888" y="217627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47888" y="21762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82880" y="2523744"/>
            <a:ext cx="2560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25237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GDPR &amp; privacy review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743200" y="2523744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0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529584" y="2523744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529584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2523744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15968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102352" y="252374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02352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888736" y="252374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888736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675120" y="2523744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675120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461504" y="252374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61504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8247888" y="252374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47888" y="2523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82880" y="2871216"/>
            <a:ext cx="256032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7744" y="28712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A/B test design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0" y="2871216"/>
            <a:ext cx="786384" cy="329184"/>
          </a:xfrm>
          <a:prstGeom prst="rect">
            <a:avLst/>
          </a:prstGeom>
          <a:solidFill>
            <a:srgbClr val="7C3AE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0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A/R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529584" y="287121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529584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315968" y="2871216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315968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102352" y="287121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102352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888736" y="2871216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88736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675120" y="287121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675120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7461504" y="287121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61504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247888" y="2871216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247888" y="2871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82880" y="3218688"/>
            <a:ext cx="2560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37744" y="32186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Business case &amp; ROI model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743200" y="3218688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43200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529584" y="321868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529584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4315968" y="3218688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315968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102352" y="321868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102352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5888736" y="3218688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888736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6675120" y="3218688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675120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7461504" y="3218688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461504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8247888" y="3218688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247888" y="32186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82880" y="3566160"/>
            <a:ext cx="256032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37744" y="356616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Launch comms &amp; member emails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743200" y="3566160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43200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529584" y="356616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529584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4315968" y="356616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315968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5102352" y="3566160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102352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5888736" y="3566160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888736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6675120" y="3566160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675120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7461504" y="3566160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461504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8247888" y="3566160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247888" y="3566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182880" y="3913632"/>
            <a:ext cx="2560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37744" y="39136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KPI monitoring &amp; reporting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743200" y="3913632"/>
            <a:ext cx="786384" cy="329184"/>
          </a:xfrm>
          <a:prstGeom prst="rect">
            <a:avLst/>
          </a:prstGeom>
          <a:solidFill>
            <a:srgbClr val="7C3AE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0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A/R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3529584" y="3913632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529584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4315968" y="3913632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315968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5102352" y="391363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102352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5888736" y="391363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888736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6675120" y="3913632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675120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7461504" y="3913632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461504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8247888" y="3913632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247888" y="39136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182880" y="4261104"/>
            <a:ext cx="256032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37744" y="42611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Ops dashboard sign-off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2743200" y="4261104"/>
            <a:ext cx="786384" cy="329184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743200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3529584" y="4261104"/>
            <a:ext cx="786384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529584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C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4315968" y="426110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315968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5102352" y="426110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102352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5888736" y="426110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888736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6675120" y="426110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6675120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7461504" y="4261104"/>
            <a:ext cx="786384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461504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8247888" y="4261104"/>
            <a:ext cx="786384" cy="329184"/>
          </a:xfrm>
          <a:prstGeom prst="rect">
            <a:avLst/>
          </a:prstGeom>
          <a:solidFill>
            <a:srgbClr val="2563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247888" y="42611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182880" y="4754880"/>
            <a:ext cx="27432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82880" y="4754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A/R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49377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Accountable + Responsible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1965960" y="4754880"/>
            <a:ext cx="2743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965960" y="4754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</a:t>
            </a:r>
            <a:endParaRPr lang="en-US" sz="700" dirty="0"/>
          </a:p>
        </p:txBody>
      </p:sp>
      <p:sp>
        <p:nvSpPr>
          <p:cNvPr id="210" name="Text 208"/>
          <p:cNvSpPr/>
          <p:nvPr/>
        </p:nvSpPr>
        <p:spPr>
          <a:xfrm>
            <a:off x="227685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Accountable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3749040" y="4754880"/>
            <a:ext cx="274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749040" y="4754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405993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Responsible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5532120" y="4754880"/>
            <a:ext cx="2743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532120" y="4754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</a:rPr>
              <a:t>C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584301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Consulted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7315200" y="4754880"/>
            <a:ext cx="27432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7315200" y="4754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</a:rPr>
              <a:t>I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762609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Informed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Based on all the data insights, what Flying Blue should do next, and why ?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719072"/>
          </a:xfrm>
          <a:prstGeom prst="rect">
            <a:avLst/>
          </a:prstGeom>
          <a:solidFill>
            <a:srgbClr val="162050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57200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28016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Ship Flying Blue Signals v1 in Q3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66420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The KPI gap is clear: 11% MAR vs 18–22% benchmark. Personalised feed + saver alerts are the fastest path to closing it. Hence , perform an A/B test from day 1 to build the evidence base for full rollout.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</a:rPr>
              <a:t>Target: +40% CTR, +7pp MAR at 90 days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719072"/>
          </a:xfrm>
          <a:prstGeom prst="rect">
            <a:avLst/>
          </a:prstGeom>
          <a:solidFill>
            <a:srgbClr val="162050"/>
          </a:solidFill>
          <a:ln w="1016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457200" cy="1719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9512" y="128016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 a dedicated loyalty PM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Flying Blue Signals is a multi-team initiative spanning data science, engineering, CRM, legal, and loyalty ops. The RACI shows 10 cross-functional workstreams , so this cannot be managed as a side project.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39512" y="263347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</a:rPr>
              <a:t>Owner: Product · Reports to: VP Digital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206240" cy="1719072"/>
          </a:xfrm>
          <a:prstGeom prst="rect">
            <a:avLst/>
          </a:prstGeom>
          <a:solidFill>
            <a:srgbClr val="162050"/>
          </a:solidFill>
          <a:ln w="1016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457200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1546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 the award hold gap before full rollout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53872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The SWOT and customer journey both flag this. Personalisation drives members to the booking page , but if they can't hold a seat during a 48hr transfer, the conversion is lost. So, negotiate a 24hr hold feature with the reservation system team.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450799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</a:rPr>
              <a:t>Dependency: Reservation systems team (external)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206240" cy="1719072"/>
          </a:xfrm>
          <a:prstGeom prst="rect">
            <a:avLst/>
          </a:prstGeom>
          <a:solidFill>
            <a:srgbClr val="162050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63240"/>
            <a:ext cx="457200" cy="1719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1546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Establish GDPR compliance as a launch gate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9512" y="353872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EU AI Act and GDPR Article 22 apply to automated personalisation at scale. Legal sign-off (per RACI) must be a hard gate before any member-facing the AI  driven experiences and algorithmic decisions. </a:t>
            </a:r>
            <a:r>
              <a:rPr lang="en-US" sz="850" dirty="0" err="1">
                <a:solidFill>
                  <a:srgbClr val="94A3B8"/>
                </a:solidFill>
              </a:rPr>
              <a:t>So,build</a:t>
            </a:r>
            <a:r>
              <a:rPr lang="en-US" sz="850" dirty="0">
                <a:solidFill>
                  <a:srgbClr val="94A3B8"/>
                </a:solidFill>
              </a:rPr>
              <a:t> the 'why am I seeing this?' explainability layer in v1.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9512" y="450799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</a:rPr>
              <a:t>Gate: Legal approval required pre-launch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Case Study  ·  Flying Blue Signals  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1695</Words>
  <Application>Microsoft Office PowerPoint</Application>
  <PresentationFormat>On-screen Show (16:9)</PresentationFormat>
  <Paragraphs>365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Flying Blue Signals — PM Case Study</dc:title>
  <dc:subject>PptxGenJS Presentation</dc:subject>
  <dc:creator>PM Portfolio</dc:creator>
  <cp:lastModifiedBy>Anu Surya</cp:lastModifiedBy>
  <cp:revision>13</cp:revision>
  <dcterms:created xsi:type="dcterms:W3CDTF">2026-06-03T22:41:03Z</dcterms:created>
  <dcterms:modified xsi:type="dcterms:W3CDTF">2026-06-04T08:30:50Z</dcterms:modified>
</cp:coreProperties>
</file>