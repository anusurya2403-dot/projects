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63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371600"/>
            <a:ext cx="3200400" cy="3200400"/>
          </a:xfrm>
          <a:prstGeom prst="ellipse">
            <a:avLst/>
          </a:prstGeom>
          <a:solidFill>
            <a:srgbClr val="1B3A5C">
              <a:alpha val="6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EUROPCAR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Privilege Program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– </a:t>
            </a:r>
            <a:r>
              <a:rPr lang="en-US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</a:t>
            </a:r>
            <a:r>
              <a:rPr lang="en-US" sz="18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Customer Experience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Consumer Behaviour  ·  Competitive Intelligence  ·  A/B Testing  ·  Roadmap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 &amp; Challenges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502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 – Privilege Program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502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175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0632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023360"/>
            <a:ext cx="5029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233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06908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 &amp; Psychology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105156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Intelligence 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11680"/>
            <a:ext cx="50292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116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9240" y="20574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Strategy &amp; Roadmap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17520"/>
            <a:ext cx="50292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0175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30632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 &amp; KPIs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0233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023360"/>
            <a:ext cx="50292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233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49240" y="406908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Business Objectives &amp; Challenges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8132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5331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Average Order Value (AOV)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25856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3055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Online Conversion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03580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0779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User Experience across digital channels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81304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8503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Customer Acquisition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822960"/>
            <a:ext cx="39319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32588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47488" y="1481328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135331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among target segments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10312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47488" y="2258568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213055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Cart &amp; Booking Abandonment Rates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88036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47488" y="3035808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90779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Complexity &amp; Page Load Speed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657600"/>
            <a:ext cx="393192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47488" y="3813048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368503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Audience Targeting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SWOT Analysis – Europcar Privilege Program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2103120"/>
          </a:xfrm>
          <a:prstGeom prst="rect">
            <a:avLst/>
          </a:prstGeom>
          <a:solidFill>
            <a:srgbClr val="F4F7FB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976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2336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structure (Club → Elite VIP) with clear progression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weekend rentals &amp; complimentary upgrades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digital access via mobile 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Accor Hotels &amp; Priority Pass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97680" cy="2103120"/>
          </a:xfrm>
          <a:prstGeom prst="rect">
            <a:avLst/>
          </a:prstGeom>
          <a:solidFill>
            <a:srgbClr val="F4F7FB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9768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772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34440"/>
            <a:ext cx="402336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vary significantly across regions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partnerships vs. competitors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member awareness &amp; benefit underutilisation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airline integration reducing perceived value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834640"/>
            <a:ext cx="4297680" cy="2103120"/>
          </a:xfrm>
          <a:prstGeom prst="rect">
            <a:avLst/>
          </a:prstGeom>
          <a:solidFill>
            <a:srgbClr val="F4F7FB"/>
          </a:solidFill>
          <a:ln w="254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834640"/>
            <a:ext cx="429768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834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291840"/>
            <a:ext cx="402336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global partnerships (airlines, hotels, platforms)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AI for personalised rewards &amp; communications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rewards for sustainability-conscious customers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campaigns to boost programme awareness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297680" cy="2103120"/>
          </a:xfrm>
          <a:prstGeom prst="rect">
            <a:avLst/>
          </a:prstGeom>
          <a:solidFill>
            <a:srgbClr val="F4F7FB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34640"/>
            <a:ext cx="429768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8346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402336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competition: Hertz Gold Plus, Avis Preferred, Sixt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downturns reducing rental frequency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technology advances in competitor programmes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with disruptive subscription-based models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Competitor Analysis – Loyalty Programme Benchmarking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814816" cy="4206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Europcar Privilege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Hertz Gold Plus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Avis Preferred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Sixt Loyalty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Tiers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Club, Executive, Elite, Elite VIP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Gold, Five Star, President Circle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Preferred, Preferred Plus, President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Sixt Express, Gold, Platinum, Diamond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Benefits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weekend rentals, upgrades, express checkout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Points-based free rentals, car upgrades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redemption, priority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upgrades, exclusive hotline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Accor Hotels, Priority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Delta, United, Marriott, Hilton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Airlines, hotels, travel agencies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airlines, luxury travel partners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Reach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Europe, moderate global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presence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Americas &amp; Europe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Europe, expanding globally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AI-driven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personalised (customer profile)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(rental history)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focus on premium 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tied to loyalty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rental 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 rental options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Experience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Seamless tracking &amp; rewards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app, advanced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app functionality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app for business travelers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Consumer Behaviour &amp; Psychological Principles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psychology into the Privilege Programme to drive engagement, loyalty, and member satisfaction.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4251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8016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Conditioning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rental patterns to offer personalised rewards, reinforcing repeat bookings.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251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80160"/>
            <a:ext cx="109728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Self-Determination Theory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6276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tools personalise experiences around autonomy, competence &amp; relatedness ,making members feel valued.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468880"/>
            <a:ext cx="4251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46888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Identity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816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testimonials to create community belonging and aspirational tier progression.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251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468880"/>
            <a:ext cx="109728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Dissonance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2816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members feel validated in choosing Europcar, reducing post-purchase doubt.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657600"/>
            <a:ext cx="4251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365760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40050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systems improve responsiveness and member satisfaction dynamically.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251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109728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 Likelihood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0328" y="40050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benefit communications drive central (thoughtful) information processing — not peripheral.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81C1C1-4FBC-81D5-DCF1-24653BFC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5" y="0"/>
            <a:ext cx="83702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2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|  Cultural Intelligence Map – International Customer Service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976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0782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Transparent pricing, courteous service, occasional goodwill gestures.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429768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 Spain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188720"/>
            <a:ext cx="40782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Warm, flexible approach with personalised offers and relationship-building.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19456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194560"/>
            <a:ext cx="42976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 Germany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2606040"/>
            <a:ext cx="40782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Strict policy adherence, technical accuracy, minimal small talk.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94560"/>
            <a:ext cx="429768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France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2606040"/>
            <a:ext cx="40782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Engaging discussions, logical policy justification, brand reputation emphasis.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61188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611880"/>
            <a:ext cx="42976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🇨🇭  Switzerland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" y="4023360"/>
            <a:ext cx="40782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Premium, efficient service with precision and rule-based transparency.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429768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USA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4023360"/>
            <a:ext cx="40782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Fast resolution, convenience priority, and robust loyalty rewards programmes.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|  A/B Testing Strategy &amp; Optimisation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A/B Testing tool |  A/B Testing, Feature Flags, Personalisation &amp; Predictive Targeting Platform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298448"/>
            <a:ext cx="13716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298448"/>
            <a:ext cx="1371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1828800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2423160"/>
            <a:ext cx="1225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hypothesis &amp; KPIs: CTR, conversion rate, time on site &gt;600s, visits.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2057400"/>
            <a:ext cx="10058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5064" y="1298448"/>
            <a:ext cx="13716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5064" y="1298448"/>
            <a:ext cx="13716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5064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28216" y="1828800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28216" y="2423160"/>
            <a:ext cx="1225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audience by visits, page views, website exit patterns for precise targeting.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26664" y="2057400"/>
            <a:ext cx="10058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1298448"/>
            <a:ext cx="13716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27248" y="1298448"/>
            <a:ext cx="1371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1828800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Creation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2423160"/>
            <a:ext cx="1225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versions (Original vs. Variation) for data comparison and insights.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98848" y="2057400"/>
            <a:ext cx="10058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9432" y="1298448"/>
            <a:ext cx="13716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1298448"/>
            <a:ext cx="13716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72584" y="1828800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Launch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72584" y="2423160"/>
            <a:ext cx="1225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A/B tests exposing segmented audiences to different variations.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71032" y="2057400"/>
            <a:ext cx="10058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1298448"/>
            <a:ext cx="13716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1298448"/>
            <a:ext cx="1371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44768" y="1828800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Analytics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4768" y="2423160"/>
            <a:ext cx="1225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KPI reporting and simulation analysis of variation effects.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43216" y="2057400"/>
            <a:ext cx="100584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298448"/>
            <a:ext cx="13716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0" y="1298448"/>
            <a:ext cx="13716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12984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16952" y="1828800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Winner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16952" y="2423160"/>
            <a:ext cx="1225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winning variation across the site after data-driven assessment.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82880" y="4709160"/>
            <a:ext cx="8778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monitored:  Click Through Rate  ·  Time on Site &gt; 600s  ·  Conversion Rate  ·  Number of Visits  ·  Cross-sell Rate  ·  Campaign ROI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06b  |  A/B Testing Use Cases – Europcar Privilege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100584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Funnel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form fields &amp; reduce friction in payment step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↑ Booking completion rate, ↓ abandonment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100584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11612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post login landing page for new vs. returning Privilege members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↑ CTR, ↑ session depth for returning members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1945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194560"/>
            <a:ext cx="100584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194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Targeting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578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Show upgrade or add-on offers only to members showing active booking intent (searched dates, viewed vehicles, or abandoned checkout)</a:t>
            </a:r>
          </a:p>
        </p:txBody>
      </p:sp>
      <p:sp>
        <p:nvSpPr>
          <p:cNvPr id="18" name="Text 16"/>
          <p:cNvSpPr/>
          <p:nvPr/>
        </p:nvSpPr>
        <p:spPr>
          <a:xfrm>
            <a:off x="274320" y="2990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↑ ROI x3 (validated by loyalty industry benchmark)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100584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94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Optimisation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578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CTA button colour, CTA copy (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'Redeem Now' vs. 'Claim Your Benefit')</a:t>
            </a:r>
          </a:p>
        </p:txBody>
      </p:sp>
      <p:sp>
        <p:nvSpPr>
          <p:cNvPr id="23" name="Text 21"/>
          <p:cNvSpPr/>
          <p:nvPr/>
        </p:nvSpPr>
        <p:spPr>
          <a:xfrm>
            <a:off x="4800600" y="2990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↑ Click-through rate on rewards page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361188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611880"/>
            <a:ext cx="100584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 Upsell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showing points gap to next tier at checkout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407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↑ Average Order Value, ↑ tier upgrade rate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100584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Emails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rgbClr val="0D1B2A"/>
                </a:solidFill>
                <a:latin typeface="Calibri" pitchFamily="34" charset="0"/>
                <a:cs typeface="Calibri" pitchFamily="34" charset="-120"/>
              </a:rPr>
              <a:t>Tier-personalised reward emails (dynamic points balance + next tier gap) vs. standard member communications</a:t>
            </a:r>
            <a:endParaRPr lang="en-US" sz="1050" b="1" dirty="0">
              <a:solidFill>
                <a:srgbClr val="0D1B2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00600" y="4407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↑ Email open rate, ↑ revenue per email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07a  |  Customer Journey &amp; Key Touchpoints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2331720"/>
            <a:ext cx="85953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1645920" cy="1463040"/>
          </a:xfrm>
          <a:prstGeom prst="rect">
            <a:avLst/>
          </a:prstGeom>
          <a:solidFill>
            <a:srgbClr val="F4F7FB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1645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44475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landing pages, brand discovery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17627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2788920"/>
            <a:ext cx="164592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8346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Travel loyalty members first engage with a programme via the brand's website or app before joining</a:t>
            </a:r>
          </a:p>
        </p:txBody>
      </p:sp>
      <p:sp>
        <p:nvSpPr>
          <p:cNvPr id="14" name="Shape 12"/>
          <p:cNvSpPr/>
          <p:nvPr/>
        </p:nvSpPr>
        <p:spPr>
          <a:xfrm>
            <a:off x="1947672" y="777240"/>
            <a:ext cx="1645920" cy="1463040"/>
          </a:xfrm>
          <a:prstGeom prst="rect">
            <a:avLst/>
          </a:prstGeom>
          <a:solidFill>
            <a:srgbClr val="F4F7FB"/>
          </a:solidFill>
          <a:ln w="254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47672" y="777240"/>
            <a:ext cx="1645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93392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Interactions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93392" y="144475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design, wishlist, personalised recommendations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42032" y="2176272"/>
            <a:ext cx="457200" cy="457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47672" y="2788920"/>
            <a:ext cx="164592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28346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Frequent business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travellers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compare loyalty tier benefits before committing to a rental provider</a:t>
            </a:r>
          </a:p>
        </p:txBody>
      </p:sp>
      <p:sp>
        <p:nvSpPr>
          <p:cNvPr id="23" name="Shape 21"/>
          <p:cNvSpPr/>
          <p:nvPr/>
        </p:nvSpPr>
        <p:spPr>
          <a:xfrm>
            <a:off x="3712464" y="777240"/>
            <a:ext cx="1645920" cy="1463040"/>
          </a:xfrm>
          <a:prstGeom prst="rect">
            <a:avLst/>
          </a:prstGeom>
          <a:solidFill>
            <a:srgbClr val="F4F7FB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12464" y="777240"/>
            <a:ext cx="1645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58184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Selection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58184" y="144475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size, colour, offers, financing options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06824" y="217627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12464" y="2788920"/>
            <a:ext cx="164592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58184" y="28346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loyalty members say exclusive member rates or upgrade offers directly influence their booking decision</a:t>
            </a:r>
          </a:p>
        </p:txBody>
      </p:sp>
      <p:sp>
        <p:nvSpPr>
          <p:cNvPr id="32" name="Shape 30"/>
          <p:cNvSpPr/>
          <p:nvPr/>
        </p:nvSpPr>
        <p:spPr>
          <a:xfrm>
            <a:off x="5477256" y="777240"/>
            <a:ext cx="1645920" cy="1463040"/>
          </a:xfrm>
          <a:prstGeom prst="rect">
            <a:avLst/>
          </a:prstGeom>
          <a:solidFill>
            <a:srgbClr val="F4F7FB"/>
          </a:solidFill>
          <a:ln w="254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77256" y="777240"/>
            <a:ext cx="1645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7256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22976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22976" y="144475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checkout, order confirmation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71616" y="2176272"/>
            <a:ext cx="457200" cy="457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77256" y="2788920"/>
            <a:ext cx="164592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28346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Loyalty programme drop-offs occur at checkout due to friction or points redemption confusion</a:t>
            </a:r>
          </a:p>
        </p:txBody>
      </p:sp>
      <p:sp>
        <p:nvSpPr>
          <p:cNvPr id="41" name="Shape 39"/>
          <p:cNvSpPr/>
          <p:nvPr/>
        </p:nvSpPr>
        <p:spPr>
          <a:xfrm>
            <a:off x="7242048" y="777240"/>
            <a:ext cx="1645920" cy="1463040"/>
          </a:xfrm>
          <a:prstGeom prst="rect">
            <a:avLst/>
          </a:prstGeom>
          <a:solidFill>
            <a:srgbClr val="F4F7FB"/>
          </a:solidFill>
          <a:ln w="25400">
            <a:solidFill>
              <a:srgbClr val="F2A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42048" y="777240"/>
            <a:ext cx="1645920" cy="3474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87768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87768" y="144475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Rewards, brand advocacy, repeat purchase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36408" y="2176272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36408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242048" y="2788920"/>
            <a:ext cx="164592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87768" y="28346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Privilege-tier members who receive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personalised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post-rental communication make a repeat booking within 90 days</a:t>
            </a:r>
          </a:p>
        </p:txBody>
      </p:sp>
      <p:sp>
        <p:nvSpPr>
          <p:cNvPr id="50" name="Text 4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Phocuswright,GBTA,McKinsey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07b  |  Benchmark Success Stories – A/B Testing in Action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116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22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6032" y="146304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Targeted Promotions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Travel loyalty benchmark : intent-based targeting</a:t>
            </a:r>
          </a:p>
        </p:txBody>
      </p:sp>
      <p:sp>
        <p:nvSpPr>
          <p:cNvPr id="8" name="Shape 6"/>
          <p:cNvSpPr/>
          <p:nvPr/>
        </p:nvSpPr>
        <p:spPr>
          <a:xfrm>
            <a:off x="2395728" y="777240"/>
            <a:ext cx="20116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822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Untargeted Campaigns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41448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vs generic campaigns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08576" y="777240"/>
            <a:ext cx="20116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822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81728" y="146304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Improvement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54296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targeted A/B experimentation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21424" y="777240"/>
            <a:ext cx="20116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822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94576" y="146304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Increase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67144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audience segmentation- Tier Match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770632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74320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07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00" i="1" dirty="0"/>
              <a:t>"Experimentation is at the core of how we improve — every change we make to the customer experience is validated through data before full rollout."</a:t>
            </a:r>
            <a:r>
              <a:rPr lang="en-US" sz="1000" dirty="0"/>
              <a:t> </a:t>
            </a:r>
          </a:p>
        </p:txBody>
      </p:sp>
      <p:sp>
        <p:nvSpPr>
          <p:cNvPr id="23" name="Text 21"/>
          <p:cNvSpPr/>
          <p:nvPr/>
        </p:nvSpPr>
        <p:spPr>
          <a:xfrm>
            <a:off x="365760" y="33101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cs typeface="Calibri" pitchFamily="34" charset="-120"/>
              </a:rPr>
              <a:t>Booking.com Product Team, Growth &amp; Experimentation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182880" y="3886200"/>
            <a:ext cx="8778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88620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50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00" i="1" dirty="0"/>
              <a:t> "A/B testing our loyalty communications reduced churn by double digits and increased redemption rates significantly."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531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28090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en-US" sz="900" dirty="0"/>
              <a:t> </a:t>
            </a: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cs typeface="Calibri" pitchFamily="34" charset="-120"/>
              </a:rPr>
              <a:t>Head of CRM, European Travel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|  Strategic Actions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65836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predictive AI engine &amp; customer service to deliver individualised rewards, communications and booking funnel experiences by member tier level and rental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65836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7724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1097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Partnership Ecosystem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airline loyalty programmes (Air France, BA, Lufthansa) and hotel chains beyond Accor to compete with Hertz/Avis alliances.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19456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194560"/>
            <a:ext cx="658368" cy="2926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1945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5146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Reward Tracks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sustainability tier within Privilege (e.g., EV rental bonus points) to capture the growing green-travel segment.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658368" cy="2926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9456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A/B Testing Programme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experimentation cycles on booking funnel, loyalty dashboard UX and coupon targeting — piloting with KPIs: CTR, conversion rate, AOV.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361188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611880"/>
            <a:ext cx="658368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61188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9319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Service Localisation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251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customer service scripts and reward mechanics to country-specific cultural expectations (UK, Germany, France, USA, Spain, Switzerland).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97680" cy="1234440"/>
          </a:xfrm>
          <a:prstGeom prst="rect">
            <a:avLst/>
          </a:prstGeom>
          <a:solidFill>
            <a:srgbClr val="F4F7FB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658368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1188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9319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Awareness Campaign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251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low benefit awareness with targeted onboarding emails and in-app benefit highlights, reducing underutilisation across all tiers.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1400</Words>
  <Application>Microsoft Office PowerPoint</Application>
  <PresentationFormat>On-screen Show (16:9)</PresentationFormat>
  <Paragraphs>237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Europcar Privilege Program – Product Manager Project</dc:title>
  <dc:subject>PptxGenJS Presentation</dc:subject>
  <dc:creator>PptxGenJS</dc:creator>
  <cp:lastModifiedBy>Anu Surya</cp:lastModifiedBy>
  <cp:revision>9</cp:revision>
  <dcterms:created xsi:type="dcterms:W3CDTF">2026-06-05T18:16:05Z</dcterms:created>
  <dcterms:modified xsi:type="dcterms:W3CDTF">2026-06-07T15:48:37Z</dcterms:modified>
</cp:coreProperties>
</file>